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E61BA6-4303-487E-BB49-9136AA787208}">
  <a:tblStyle styleId="{9EE61BA6-4303-487E-BB49-9136AA78720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458c514e4_0_7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458c514e4_0_7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458c514e4_0_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458c514e4_0_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de4d19b3a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de4d19b3a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d458c514e4_0_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d458c514e4_0_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de4d19b3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de4d19b3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458c514e4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458c514e4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e4d19b3a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e4d19b3a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e4d19b3a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e4d19b3a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e4d19b3aa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e4d19b3aa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e5de3da0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e5de3da0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e5de3da0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e5de3da0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e4702a26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e4702a26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e4702a26f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e4702a26f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de585c5a4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de585c5a4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e4d19b3aa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de4d19b3aa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link.springer.com/chapter/10.1007/978-3-030-39875-0_31" TargetMode="External"/><Relationship Id="rId4" Type="http://schemas.openxmlformats.org/officeDocument/2006/relationships/hyperlink" Target="https://papers.ssrn.com/sol3/papers.cfm?abstract_id=4741661" TargetMode="External"/><Relationship Id="rId9" Type="http://schemas.openxmlformats.org/officeDocument/2006/relationships/hyperlink" Target="https://ijarcce.com/papers/smart-luggage-tracking-using-iot-and-gps-technology/" TargetMode="External"/><Relationship Id="rId5" Type="http://schemas.openxmlformats.org/officeDocument/2006/relationships/hyperlink" Target="https://papers.ssrn.com/sol3/papers.cfm?abstract_id=4741661" TargetMode="External"/><Relationship Id="rId6" Type="http://schemas.openxmlformats.org/officeDocument/2006/relationships/hyperlink" Target="https://ieeexplore.ieee.org/document/9262445" TargetMode="External"/><Relationship Id="rId7" Type="http://schemas.openxmlformats.org/officeDocument/2006/relationships/hyperlink" Target="https://ieeexplore.ieee.org/document/9262445" TargetMode="External"/><Relationship Id="rId8" Type="http://schemas.openxmlformats.org/officeDocument/2006/relationships/hyperlink" Target="https://ijarcce.com/papers/smart-luggage-tracking-using-iot-and-gps-technology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1083975" y="184488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467"/>
              <a:t>GOVERNMENT COLLEGE OF ENGINEERING , SALEM-11</a:t>
            </a:r>
            <a:endParaRPr b="1" sz="2467"/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ct val="73881"/>
              <a:buFont typeface="Arial"/>
              <a:buNone/>
            </a:pPr>
            <a:r>
              <a:rPr b="1" lang="en-GB" sz="1489"/>
              <a:t>(An Autonomous Institution Affiliated to Anna University , Chennai NAAC Accredited A++)</a:t>
            </a:r>
            <a:endParaRPr b="1" sz="1489"/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1"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9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b="1" sz="840">
              <a:solidFill>
                <a:schemeClr val="dk1"/>
              </a:solidFill>
            </a:endParaRPr>
          </a:p>
          <a:p>
            <a:pPr indent="0" lvl="0" marL="1270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rPr b="1" lang="en-GB" sz="182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ELECTRONICS AND COMMUNICATION ENGINEERING</a:t>
            </a:r>
            <a:endParaRPr b="1" sz="182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b="1" sz="2200"/>
          </a:p>
        </p:txBody>
      </p:sp>
      <p:sp>
        <p:nvSpPr>
          <p:cNvPr id="56" name="Google Shape;56;p13"/>
          <p:cNvSpPr txBox="1"/>
          <p:nvPr/>
        </p:nvSpPr>
        <p:spPr>
          <a:xfrm>
            <a:off x="880500" y="2008288"/>
            <a:ext cx="7383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rtl="0" algn="ctr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PROJECT-22EC601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8575" y="58025"/>
            <a:ext cx="909900" cy="10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146361" cy="107352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311700" y="3453950"/>
            <a:ext cx="2501700" cy="15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GUIDE:</a:t>
            </a:r>
            <a:endParaRPr b="1"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G.Kavitha,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Assistant professor,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marR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ECE</a:t>
            </a:r>
            <a:r>
              <a:rPr lang="en-GB" sz="1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886775" y="3389450"/>
            <a:ext cx="47178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MEMBERS :</a:t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DEEPASRI 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                       -2303617710622007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SANDHIYA S                     -2303617710622039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SRIPRIYA K                       -2303617710622047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ISHWARYA LAKSHMI A -2303617710622701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700" rtl="0" algn="l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682650" y="2553013"/>
            <a:ext cx="7974600" cy="6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LUGGAGE SAFETY SYSTEM WITH MULTI-LAYER THEFT DETECTION</a:t>
            </a:r>
            <a:endParaRPr b="1" sz="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72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ABSTRACT</a:t>
            </a:r>
            <a:endParaRPr b="1" sz="272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presents an 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IoT-based smart luggage security system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using the 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real-time monitoring and theft prevention. By integrating a 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Reed switch, LDR, MPU6050, and GPS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 system detects zip tampering, light intrusion, and unauthorized motion. To ensure reliability, it features a 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dual-mode operation (Wearable and Rack mode)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with a built-in delay mechanism to eliminate false motion alarms. The system provides immediate security through a 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buzzer alert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transmits live location updates via </a:t>
            </a:r>
            <a:r>
              <a:rPr b="1"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GPS</a:t>
            </a: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offering an effective and robust solution for travel safety.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252125" y="868450"/>
            <a:ext cx="7755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72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 sz="272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Nowadays, luggage theft and loss are very common in public places like railway stations, airports, and buses.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solutions mainly focus on tracking after theft, not preventing it.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there is a need for a smart system that can detect suspicious activity instantly and alert the user in real time.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●"/>
            </a:pPr>
            <a:r>
              <a:rPr lang="en-GB" sz="17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project provides a smart IoT-based luggage safety system using sensors, GPS, and cloud technology.</a:t>
            </a:r>
            <a:endParaRPr sz="17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177600" y="169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3612"/>
              <a:buFont typeface="Arial"/>
              <a:buNone/>
            </a:pPr>
            <a:r>
              <a:rPr b="1" lang="en-GB" sz="2522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LITERATURE SURVEY</a:t>
            </a:r>
            <a:endParaRPr b="1" sz="2522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80" name="Google Shape;80;p16"/>
          <p:cNvGraphicFramePr/>
          <p:nvPr/>
        </p:nvGraphicFramePr>
        <p:xfrm>
          <a:off x="177600" y="937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{9EE61BA6-4303-487E-BB49-9136AA787208}</a:tableStyleId>
              </a:tblPr>
              <a:tblGrid>
                <a:gridCol w="627200"/>
                <a:gridCol w="3452400"/>
                <a:gridCol w="2354625"/>
                <a:gridCol w="2338475"/>
              </a:tblGrid>
              <a:tr h="4673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Title &amp; Author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 Technologies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b="1"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0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IoT Based Smart Luggage Monitor Alarm System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— Valluripally et al. (2019), Springer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Arduino, BLE, GSM, GPS; detects luggage separation and sends SMS alerts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Limited to Bluetooth range; no tamper or zip detection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0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Intelligent Travel Companion: The IoT-Enabled Smart Bag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— Basha Sk et al. (2024), IJMTST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ESP8266, GPS, RFID/NFC, biometric authentication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 on tracking and biometric security; complex and costly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0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Smart Luggage Carrier System with Theft Prevention and Real-Time Tracking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— Santhana Krishnan et al. (2020), IEEE ICSCAN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Arduino Nano, GPS, GSM, automated following system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Focus on movement; no intrusion or zip detection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  <a:tr h="9072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Smart Luggage Tracking using IoT and GPS Technology</a:t>
                      </a:r>
                      <a:r>
                        <a:rPr lang="en-GB" sz="12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— IJARCCE (2023)</a:t>
                      </a:r>
                      <a:endParaRPr sz="12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Arduino Uno, GPS, GSM, IoT platform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5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Only tracking; no detection of bag opening or tampering</a:t>
                      </a:r>
                      <a:endParaRPr sz="15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72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1" sz="272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7451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Times New Roman"/>
              <a:buChar char="➢"/>
            </a:pPr>
            <a:r>
              <a:rPr lang="en-GB" sz="171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increasing cases of luggage theft highlight the need for improved security systems.</a:t>
            </a:r>
            <a:endParaRPr sz="171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45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Times New Roman"/>
              <a:buChar char="➢"/>
            </a:pPr>
            <a:r>
              <a:rPr lang="en-GB" sz="171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Existing solutions are mostly reactive rather than proactive.</a:t>
            </a:r>
            <a:endParaRPr sz="171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45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Times New Roman"/>
              <a:buChar char="➢"/>
            </a:pPr>
            <a:r>
              <a:rPr lang="en-GB" sz="171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lack features like:</a:t>
            </a:r>
            <a:endParaRPr sz="171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451" lvl="0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Times New Roman"/>
              <a:buChar char="●"/>
            </a:pPr>
            <a:r>
              <a:rPr lang="en-GB" sz="171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monitoring</a:t>
            </a:r>
            <a:endParaRPr sz="171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451" lvl="0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Times New Roman"/>
              <a:buChar char="●"/>
            </a:pPr>
            <a:r>
              <a:rPr lang="en-GB" sz="171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Immediate alert mechanisms</a:t>
            </a:r>
            <a:endParaRPr sz="171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451" lvl="0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Times New Roman"/>
              <a:buChar char="●"/>
            </a:pPr>
            <a:r>
              <a:rPr lang="en-GB" sz="171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Reliable sensor-based detection</a:t>
            </a:r>
            <a:endParaRPr sz="171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45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Times New Roman"/>
              <a:buChar char="➢"/>
            </a:pPr>
            <a:r>
              <a:rPr lang="en-GB" sz="171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luggage security systems lack multi-sensor integration.</a:t>
            </a:r>
            <a:endParaRPr sz="171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45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Times New Roman"/>
              <a:buChar char="➢"/>
            </a:pPr>
            <a:r>
              <a:rPr lang="en-GB" sz="171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They fail to detect zip tampering and light exposure.</a:t>
            </a:r>
            <a:endParaRPr sz="171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45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Times New Roman"/>
              <a:buChar char="➢"/>
            </a:pPr>
            <a:r>
              <a:rPr lang="en-GB" sz="171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Motion detection systems often generate false alerts due to noise.</a:t>
            </a:r>
            <a:endParaRPr sz="171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745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14"/>
              <a:buFont typeface="Times New Roman"/>
              <a:buChar char="➢"/>
            </a:pPr>
            <a:r>
              <a:rPr lang="en-GB" sz="1714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Therefore, a smart IoT-based solution is essential. </a:t>
            </a:r>
            <a:endParaRPr sz="1714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34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46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72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</a:t>
            </a:r>
            <a:endParaRPr b="1" sz="272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provide safety and security for travelers’ luggage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alert users immediately during suspicious activities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allow users to monitor luggage remotely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prevent theft before it happens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make the system easy to use and reliable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72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b="1" sz="272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Developed an IoT-based smart luggage security system using ESP32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Integrated multiple sensors for detection: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■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Reed switch for zip opening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■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LDR for light/intrusion detection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■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MPU6050 for motion detection (rack mode only)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Implemented dual mode operation: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■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Wearable mode (motion detection disabled)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Char char="■"/>
            </a:pPr>
            <a:r>
              <a:rPr lang="en-GB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Rack mode (all sensors active)</a:t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Applied 7-second delay logic to reduce false motion alerts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GPS is used for location tracking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Alerts are sent through Telegram and buzzer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●"/>
            </a:pPr>
            <a:r>
              <a:rPr lang="en-GB" sz="1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is stored and monitored using Firebase</a:t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/>
          <p:nvPr/>
        </p:nvSpPr>
        <p:spPr>
          <a:xfrm>
            <a:off x="323500" y="1401775"/>
            <a:ext cx="2012700" cy="718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REED SWITCH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/>
          <p:nvPr/>
        </p:nvSpPr>
        <p:spPr>
          <a:xfrm>
            <a:off x="332125" y="2380875"/>
            <a:ext cx="2012700" cy="718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LDR SENSOR</a:t>
            </a:r>
            <a:endParaRPr/>
          </a:p>
        </p:txBody>
      </p:sp>
      <p:sp>
        <p:nvSpPr>
          <p:cNvPr id="105" name="Google Shape;105;p20"/>
          <p:cNvSpPr/>
          <p:nvPr/>
        </p:nvSpPr>
        <p:spPr>
          <a:xfrm>
            <a:off x="340750" y="3234175"/>
            <a:ext cx="2012700" cy="718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MPU6050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20"/>
          <p:cNvSpPr/>
          <p:nvPr/>
        </p:nvSpPr>
        <p:spPr>
          <a:xfrm>
            <a:off x="349350" y="4159350"/>
            <a:ext cx="2012700" cy="7188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GPS MODULE</a:t>
            </a:r>
            <a:endParaRPr/>
          </a:p>
        </p:txBody>
      </p:sp>
      <p:sp>
        <p:nvSpPr>
          <p:cNvPr id="107" name="Google Shape;107;p20"/>
          <p:cNvSpPr/>
          <p:nvPr/>
        </p:nvSpPr>
        <p:spPr>
          <a:xfrm>
            <a:off x="2785650" y="1329900"/>
            <a:ext cx="1869000" cy="360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ESP32 (MAIN CONTROLLER)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7062900" y="2830675"/>
            <a:ext cx="1365900" cy="2201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USER INTERFACE (WEB</a:t>
            </a:r>
            <a:r>
              <a:rPr lang="en-GB" sz="1300">
                <a:solidFill>
                  <a:schemeClr val="dk1"/>
                </a:solidFill>
              </a:rPr>
              <a:t> DASHBOARD/ TELEGRAM APP</a:t>
            </a:r>
            <a:r>
              <a:rPr lang="en-GB" sz="1300">
                <a:solidFill>
                  <a:schemeClr val="dk1"/>
                </a:solidFill>
              </a:rPr>
              <a:t>) 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4986725" y="1635400"/>
            <a:ext cx="1626900" cy="952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BUZZER(ALERT OUTPUT)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5157900" y="3216925"/>
            <a:ext cx="1473600" cy="1392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WiFi MODULE (ESP32 ONBOARD)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8500550" y="3432575"/>
            <a:ext cx="1365900" cy="5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112" name="Google Shape;112;p20"/>
          <p:cNvCxnSpPr>
            <a:stCxn id="104" idx="3"/>
            <a:endCxn id="107" idx="1"/>
          </p:cNvCxnSpPr>
          <p:nvPr/>
        </p:nvCxnSpPr>
        <p:spPr>
          <a:xfrm>
            <a:off x="2344825" y="2740275"/>
            <a:ext cx="440700" cy="391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3" name="Google Shape;113;p20"/>
          <p:cNvCxnSpPr>
            <a:stCxn id="105" idx="3"/>
            <a:endCxn id="107" idx="1"/>
          </p:cNvCxnSpPr>
          <p:nvPr/>
        </p:nvCxnSpPr>
        <p:spPr>
          <a:xfrm flipH="1" rot="10800000">
            <a:off x="2353450" y="3131275"/>
            <a:ext cx="432300" cy="4623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4" name="Google Shape;114;p20"/>
          <p:cNvCxnSpPr>
            <a:stCxn id="106" idx="3"/>
            <a:endCxn id="107" idx="1"/>
          </p:cNvCxnSpPr>
          <p:nvPr/>
        </p:nvCxnSpPr>
        <p:spPr>
          <a:xfrm flipH="1" rot="10800000">
            <a:off x="2362050" y="3131550"/>
            <a:ext cx="423600" cy="13872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5" name="Google Shape;115;p20"/>
          <p:cNvCxnSpPr>
            <a:stCxn id="103" idx="3"/>
            <a:endCxn id="107" idx="1"/>
          </p:cNvCxnSpPr>
          <p:nvPr/>
        </p:nvCxnSpPr>
        <p:spPr>
          <a:xfrm>
            <a:off x="2336200" y="1761175"/>
            <a:ext cx="449400" cy="13701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16" name="Google Shape;116;p20"/>
          <p:cNvCxnSpPr>
            <a:stCxn id="110" idx="3"/>
            <a:endCxn id="108" idx="1"/>
          </p:cNvCxnSpPr>
          <p:nvPr/>
        </p:nvCxnSpPr>
        <p:spPr>
          <a:xfrm>
            <a:off x="6631500" y="3913375"/>
            <a:ext cx="431400" cy="1800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17" name="Google Shape;117;p20"/>
          <p:cNvSpPr/>
          <p:nvPr/>
        </p:nvSpPr>
        <p:spPr>
          <a:xfrm>
            <a:off x="8141175" y="2120650"/>
            <a:ext cx="1006500" cy="44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THE USER</a:t>
            </a:r>
            <a:endParaRPr b="1"/>
          </a:p>
        </p:txBody>
      </p:sp>
      <p:cxnSp>
        <p:nvCxnSpPr>
          <p:cNvPr id="118" name="Google Shape;118;p20"/>
          <p:cNvCxnSpPr>
            <a:stCxn id="108" idx="3"/>
            <a:endCxn id="117" idx="2"/>
          </p:cNvCxnSpPr>
          <p:nvPr/>
        </p:nvCxnSpPr>
        <p:spPr>
          <a:xfrm flipH="1" rot="10800000">
            <a:off x="8428800" y="2569975"/>
            <a:ext cx="215700" cy="1361400"/>
          </a:xfrm>
          <a:prstGeom prst="bentConnector2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9" name="Google Shape;119;p20"/>
          <p:cNvCxnSpPr>
            <a:endCxn id="109" idx="1"/>
          </p:cNvCxnSpPr>
          <p:nvPr/>
        </p:nvCxnSpPr>
        <p:spPr>
          <a:xfrm rot="-5400000">
            <a:off x="4310825" y="2455450"/>
            <a:ext cx="1019700" cy="332100"/>
          </a:xfrm>
          <a:prstGeom prst="bentConnector2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0" name="Google Shape;120;p20"/>
          <p:cNvCxnSpPr>
            <a:stCxn id="107" idx="3"/>
            <a:endCxn id="110" idx="1"/>
          </p:cNvCxnSpPr>
          <p:nvPr/>
        </p:nvCxnSpPr>
        <p:spPr>
          <a:xfrm>
            <a:off x="4654650" y="3131400"/>
            <a:ext cx="503400" cy="782100"/>
          </a:xfrm>
          <a:prstGeom prst="bentConnector3">
            <a:avLst>
              <a:gd fmla="val 49985" name="adj1"/>
            </a:avLst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1" name="Google Shape;121;p20"/>
          <p:cNvSpPr txBox="1"/>
          <p:nvPr/>
        </p:nvSpPr>
        <p:spPr>
          <a:xfrm>
            <a:off x="377400" y="305525"/>
            <a:ext cx="4564800" cy="5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BLOCK DIAGRAM</a:t>
            </a:r>
            <a:endParaRPr b="1" sz="25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/>
        </p:nvSpPr>
        <p:spPr>
          <a:xfrm>
            <a:off x="317500" y="71775"/>
            <a:ext cx="2471100" cy="4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1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DIAGRAM</a:t>
            </a:r>
            <a:endParaRPr b="1" sz="21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1"/>
          <p:cNvSpPr/>
          <p:nvPr/>
        </p:nvSpPr>
        <p:spPr>
          <a:xfrm>
            <a:off x="4158775" y="161025"/>
            <a:ext cx="1261200" cy="496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START</a:t>
            </a:r>
            <a:endParaRPr b="1"/>
          </a:p>
        </p:txBody>
      </p:sp>
      <p:sp>
        <p:nvSpPr>
          <p:cNvPr id="128" name="Google Shape;128;p21"/>
          <p:cNvSpPr/>
          <p:nvPr/>
        </p:nvSpPr>
        <p:spPr>
          <a:xfrm>
            <a:off x="2924575" y="1100125"/>
            <a:ext cx="3716100" cy="41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Initialize ESP32 / Sensors / Connect to WiFi</a:t>
            </a:r>
            <a:endParaRPr b="1"/>
          </a:p>
        </p:txBody>
      </p:sp>
      <p:sp>
        <p:nvSpPr>
          <p:cNvPr id="129" name="Google Shape;129;p21"/>
          <p:cNvSpPr/>
          <p:nvPr/>
        </p:nvSpPr>
        <p:spPr>
          <a:xfrm>
            <a:off x="4588100" y="1797675"/>
            <a:ext cx="380700" cy="241500"/>
          </a:xfrm>
          <a:prstGeom prst="flowChartConnector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</a:t>
            </a:r>
            <a:endParaRPr/>
          </a:p>
        </p:txBody>
      </p:sp>
      <p:sp>
        <p:nvSpPr>
          <p:cNvPr id="130" name="Google Shape;130;p21"/>
          <p:cNvSpPr/>
          <p:nvPr/>
        </p:nvSpPr>
        <p:spPr>
          <a:xfrm>
            <a:off x="4064925" y="2267225"/>
            <a:ext cx="1435450" cy="885425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/>
              <a:t> Is Syst</a:t>
            </a:r>
            <a:r>
              <a:rPr b="1" lang="en-GB" sz="1100"/>
              <a:t>e</a:t>
            </a:r>
            <a:r>
              <a:rPr b="1" lang="en-GB" sz="1100"/>
              <a:t>m ON?</a:t>
            </a:r>
            <a:endParaRPr b="1" sz="800"/>
          </a:p>
        </p:txBody>
      </p:sp>
      <p:sp>
        <p:nvSpPr>
          <p:cNvPr id="131" name="Google Shape;131;p21"/>
          <p:cNvSpPr/>
          <p:nvPr/>
        </p:nvSpPr>
        <p:spPr>
          <a:xfrm>
            <a:off x="7208925" y="2387950"/>
            <a:ext cx="1569600" cy="63750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/>
              <a:t>STOP MONITORING</a:t>
            </a:r>
            <a:endParaRPr b="1" sz="1000"/>
          </a:p>
        </p:txBody>
      </p:sp>
      <p:sp>
        <p:nvSpPr>
          <p:cNvPr id="132" name="Google Shape;132;p21"/>
          <p:cNvSpPr/>
          <p:nvPr/>
        </p:nvSpPr>
        <p:spPr>
          <a:xfrm>
            <a:off x="4056300" y="3345325"/>
            <a:ext cx="1435450" cy="885425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/>
              <a:t>Wearable or Rack?</a:t>
            </a:r>
            <a:endParaRPr b="1" sz="900"/>
          </a:p>
        </p:txBody>
      </p:sp>
      <p:sp>
        <p:nvSpPr>
          <p:cNvPr id="133" name="Google Shape;133;p21"/>
          <p:cNvSpPr/>
          <p:nvPr/>
        </p:nvSpPr>
        <p:spPr>
          <a:xfrm>
            <a:off x="1292700" y="3975825"/>
            <a:ext cx="2629500" cy="46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Read Zip/Light</a:t>
            </a:r>
            <a:endParaRPr b="1"/>
          </a:p>
        </p:txBody>
      </p:sp>
      <p:sp>
        <p:nvSpPr>
          <p:cNvPr id="134" name="Google Shape;134;p21"/>
          <p:cNvSpPr/>
          <p:nvPr/>
        </p:nvSpPr>
        <p:spPr>
          <a:xfrm>
            <a:off x="5657575" y="3994075"/>
            <a:ext cx="2629500" cy="469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Read Zip/Light/Motion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chemeClr val="dk1"/>
                </a:solidFill>
              </a:rPr>
              <a:t>logic)</a:t>
            </a:r>
            <a:endParaRPr b="1" sz="1300">
              <a:solidFill>
                <a:schemeClr val="dk1"/>
              </a:solidFill>
            </a:endParaRPr>
          </a:p>
        </p:txBody>
      </p:sp>
      <p:cxnSp>
        <p:nvCxnSpPr>
          <p:cNvPr id="135" name="Google Shape;135;p21"/>
          <p:cNvCxnSpPr>
            <a:stCxn id="127" idx="4"/>
            <a:endCxn id="128" idx="0"/>
          </p:cNvCxnSpPr>
          <p:nvPr/>
        </p:nvCxnSpPr>
        <p:spPr>
          <a:xfrm rot="5400000">
            <a:off x="4564675" y="875325"/>
            <a:ext cx="442500" cy="6900"/>
          </a:xfrm>
          <a:prstGeom prst="bentConnector3">
            <a:avLst>
              <a:gd fmla="val 50011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" name="Google Shape;136;p21"/>
          <p:cNvSpPr/>
          <p:nvPr/>
        </p:nvSpPr>
        <p:spPr>
          <a:xfrm>
            <a:off x="2481900" y="4762475"/>
            <a:ext cx="254900" cy="268300"/>
          </a:xfrm>
          <a:prstGeom prst="flowChartOffpageConnector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/>
          <p:nvPr/>
        </p:nvSpPr>
        <p:spPr>
          <a:xfrm>
            <a:off x="6846700" y="4753900"/>
            <a:ext cx="254900" cy="268300"/>
          </a:xfrm>
          <a:prstGeom prst="flowChartOffpageConnector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" name="Google Shape;138;p21"/>
          <p:cNvCxnSpPr>
            <a:stCxn id="130" idx="3"/>
            <a:endCxn id="131" idx="2"/>
          </p:cNvCxnSpPr>
          <p:nvPr/>
        </p:nvCxnSpPr>
        <p:spPr>
          <a:xfrm flipH="1" rot="10800000">
            <a:off x="5500375" y="2706638"/>
            <a:ext cx="1708500" cy="3300"/>
          </a:xfrm>
          <a:prstGeom prst="bentConnector3">
            <a:avLst>
              <a:gd fmla="val 50001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9" name="Google Shape;139;p21"/>
          <p:cNvCxnSpPr>
            <a:stCxn id="130" idx="2"/>
            <a:endCxn id="132" idx="0"/>
          </p:cNvCxnSpPr>
          <p:nvPr/>
        </p:nvCxnSpPr>
        <p:spPr>
          <a:xfrm flipH="1">
            <a:off x="4773950" y="3152650"/>
            <a:ext cx="8700" cy="192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1"/>
          <p:cNvCxnSpPr>
            <a:stCxn id="132" idx="1"/>
            <a:endCxn id="133" idx="0"/>
          </p:cNvCxnSpPr>
          <p:nvPr/>
        </p:nvCxnSpPr>
        <p:spPr>
          <a:xfrm flipH="1">
            <a:off x="2607300" y="3788038"/>
            <a:ext cx="1449000" cy="187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1"/>
          <p:cNvCxnSpPr>
            <a:stCxn id="132" idx="3"/>
            <a:endCxn id="134" idx="0"/>
          </p:cNvCxnSpPr>
          <p:nvPr/>
        </p:nvCxnSpPr>
        <p:spPr>
          <a:xfrm>
            <a:off x="5491750" y="3788038"/>
            <a:ext cx="1480500" cy="206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1"/>
          <p:cNvCxnSpPr>
            <a:endCxn id="136" idx="0"/>
          </p:cNvCxnSpPr>
          <p:nvPr/>
        </p:nvCxnSpPr>
        <p:spPr>
          <a:xfrm>
            <a:off x="2607550" y="4445375"/>
            <a:ext cx="1800" cy="317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3" name="Google Shape;143;p21"/>
          <p:cNvCxnSpPr>
            <a:stCxn id="134" idx="2"/>
            <a:endCxn id="137" idx="0"/>
          </p:cNvCxnSpPr>
          <p:nvPr/>
        </p:nvCxnSpPr>
        <p:spPr>
          <a:xfrm>
            <a:off x="6972325" y="4463575"/>
            <a:ext cx="1800" cy="290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4" name="Google Shape;144;p21"/>
          <p:cNvCxnSpPr>
            <a:stCxn id="128" idx="2"/>
            <a:endCxn id="129" idx="0"/>
          </p:cNvCxnSpPr>
          <p:nvPr/>
        </p:nvCxnSpPr>
        <p:spPr>
          <a:xfrm flipH="1">
            <a:off x="4778425" y="1515925"/>
            <a:ext cx="4200" cy="28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5" name="Google Shape;145;p21"/>
          <p:cNvCxnSpPr>
            <a:stCxn id="129" idx="4"/>
            <a:endCxn id="130" idx="0"/>
          </p:cNvCxnSpPr>
          <p:nvPr/>
        </p:nvCxnSpPr>
        <p:spPr>
          <a:xfrm>
            <a:off x="4778450" y="2039175"/>
            <a:ext cx="4200" cy="22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6" name="Google Shape;146;p21"/>
          <p:cNvSpPr txBox="1"/>
          <p:nvPr/>
        </p:nvSpPr>
        <p:spPr>
          <a:xfrm>
            <a:off x="5983300" y="2387950"/>
            <a:ext cx="6573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7" name="Google Shape;147;p21"/>
          <p:cNvSpPr txBox="1"/>
          <p:nvPr/>
        </p:nvSpPr>
        <p:spPr>
          <a:xfrm>
            <a:off x="5983350" y="2441625"/>
            <a:ext cx="1261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NO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48" name="Google Shape;148;p21"/>
          <p:cNvSpPr txBox="1"/>
          <p:nvPr/>
        </p:nvSpPr>
        <p:spPr>
          <a:xfrm>
            <a:off x="4346625" y="3112375"/>
            <a:ext cx="8049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YES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49" name="Google Shape;149;p21"/>
          <p:cNvSpPr txBox="1"/>
          <p:nvPr/>
        </p:nvSpPr>
        <p:spPr>
          <a:xfrm>
            <a:off x="2736750" y="3461200"/>
            <a:ext cx="1046400" cy="2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chemeClr val="dk1"/>
                </a:solidFill>
              </a:rPr>
              <a:t>WEARABLE</a:t>
            </a:r>
            <a:endParaRPr b="1" sz="1000">
              <a:solidFill>
                <a:schemeClr val="dk1"/>
              </a:solidFill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5875975" y="3514875"/>
            <a:ext cx="13551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RACK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51" name="Google Shape;151;p21"/>
          <p:cNvSpPr txBox="1"/>
          <p:nvPr/>
        </p:nvSpPr>
        <p:spPr>
          <a:xfrm>
            <a:off x="2897750" y="4655200"/>
            <a:ext cx="15696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To SLIDE 2 (B)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52" name="Google Shape;152;p21"/>
          <p:cNvSpPr txBox="1"/>
          <p:nvPr/>
        </p:nvSpPr>
        <p:spPr>
          <a:xfrm>
            <a:off x="7276025" y="4713650"/>
            <a:ext cx="1712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To SLIDE 2 (B)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2"/>
          <p:cNvSpPr/>
          <p:nvPr/>
        </p:nvSpPr>
        <p:spPr>
          <a:xfrm>
            <a:off x="3653275" y="827100"/>
            <a:ext cx="330000" cy="332400"/>
          </a:xfrm>
          <a:prstGeom prst="flowChartConnector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</a:t>
            </a:r>
            <a:endParaRPr b="1"/>
          </a:p>
        </p:txBody>
      </p:sp>
      <p:sp>
        <p:nvSpPr>
          <p:cNvPr id="158" name="Google Shape;158;p22"/>
          <p:cNvSpPr/>
          <p:nvPr/>
        </p:nvSpPr>
        <p:spPr>
          <a:xfrm>
            <a:off x="3558475" y="3108250"/>
            <a:ext cx="472500" cy="241500"/>
          </a:xfrm>
          <a:prstGeom prst="flowChartConnector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C</a:t>
            </a:r>
            <a:endParaRPr b="1"/>
          </a:p>
        </p:txBody>
      </p:sp>
      <p:sp>
        <p:nvSpPr>
          <p:cNvPr id="159" name="Google Shape;159;p22"/>
          <p:cNvSpPr/>
          <p:nvPr/>
        </p:nvSpPr>
        <p:spPr>
          <a:xfrm>
            <a:off x="2106250" y="1435450"/>
            <a:ext cx="3417300" cy="1274475"/>
          </a:xfrm>
          <a:prstGeom prst="flowChartDecision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/>
              <a:t>Any condition TRUE? (Zip Open? OR Light Detected? OR Verified Motion?)</a:t>
            </a:r>
            <a:endParaRPr b="1" sz="1200"/>
          </a:p>
        </p:txBody>
      </p:sp>
      <p:sp>
        <p:nvSpPr>
          <p:cNvPr id="160" name="Google Shape;160;p22"/>
          <p:cNvSpPr/>
          <p:nvPr/>
        </p:nvSpPr>
        <p:spPr>
          <a:xfrm>
            <a:off x="6345525" y="2092825"/>
            <a:ext cx="2676275" cy="459150"/>
          </a:xfrm>
          <a:prstGeom prst="flowChartProcess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Trigger Alert (Buzzer, GPS)</a:t>
            </a:r>
            <a:endParaRPr b="1"/>
          </a:p>
        </p:txBody>
      </p:sp>
      <p:sp>
        <p:nvSpPr>
          <p:cNvPr id="161" name="Google Shape;161;p22"/>
          <p:cNvSpPr/>
          <p:nvPr/>
        </p:nvSpPr>
        <p:spPr>
          <a:xfrm>
            <a:off x="2660050" y="3663625"/>
            <a:ext cx="2229450" cy="636000"/>
          </a:xfrm>
          <a:prstGeom prst="flowChartInputOutpu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Send Data to Web App</a:t>
            </a:r>
            <a:endParaRPr b="1"/>
          </a:p>
        </p:txBody>
      </p:sp>
      <p:sp>
        <p:nvSpPr>
          <p:cNvPr id="162" name="Google Shape;162;p22"/>
          <p:cNvSpPr/>
          <p:nvPr/>
        </p:nvSpPr>
        <p:spPr>
          <a:xfrm>
            <a:off x="3617600" y="80500"/>
            <a:ext cx="413350" cy="423225"/>
          </a:xfrm>
          <a:prstGeom prst="flowChartOffpageConnector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2"/>
          <p:cNvSpPr/>
          <p:nvPr/>
        </p:nvSpPr>
        <p:spPr>
          <a:xfrm>
            <a:off x="3570000" y="4630150"/>
            <a:ext cx="413350" cy="413350"/>
          </a:xfrm>
          <a:prstGeom prst="flowChartOffpageConnector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4" name="Google Shape;164;p22"/>
          <p:cNvCxnSpPr>
            <a:stCxn id="162" idx="2"/>
            <a:endCxn id="157" idx="0"/>
          </p:cNvCxnSpPr>
          <p:nvPr/>
        </p:nvCxnSpPr>
        <p:spPr>
          <a:xfrm flipH="1">
            <a:off x="3818275" y="503725"/>
            <a:ext cx="6000" cy="3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22"/>
          <p:cNvCxnSpPr>
            <a:stCxn id="161" idx="4"/>
            <a:endCxn id="163" idx="0"/>
          </p:cNvCxnSpPr>
          <p:nvPr/>
        </p:nvCxnSpPr>
        <p:spPr>
          <a:xfrm>
            <a:off x="3774775" y="4299625"/>
            <a:ext cx="1800" cy="330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2"/>
          <p:cNvCxnSpPr>
            <a:stCxn id="159" idx="2"/>
            <a:endCxn id="158" idx="0"/>
          </p:cNvCxnSpPr>
          <p:nvPr/>
        </p:nvCxnSpPr>
        <p:spPr>
          <a:xfrm flipH="1">
            <a:off x="3794800" y="2709925"/>
            <a:ext cx="20100" cy="398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2"/>
          <p:cNvCxnSpPr>
            <a:stCxn id="158" idx="4"/>
            <a:endCxn id="161" idx="1"/>
          </p:cNvCxnSpPr>
          <p:nvPr/>
        </p:nvCxnSpPr>
        <p:spPr>
          <a:xfrm flipH="1">
            <a:off x="3774925" y="3349750"/>
            <a:ext cx="19800" cy="313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2"/>
          <p:cNvCxnSpPr>
            <a:stCxn id="160" idx="2"/>
            <a:endCxn id="158" idx="6"/>
          </p:cNvCxnSpPr>
          <p:nvPr/>
        </p:nvCxnSpPr>
        <p:spPr>
          <a:xfrm rot="5400000">
            <a:off x="5518713" y="1064125"/>
            <a:ext cx="677100" cy="36528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2"/>
          <p:cNvCxnSpPr>
            <a:stCxn id="159" idx="3"/>
            <a:endCxn id="160" idx="1"/>
          </p:cNvCxnSpPr>
          <p:nvPr/>
        </p:nvCxnSpPr>
        <p:spPr>
          <a:xfrm>
            <a:off x="5523550" y="2072688"/>
            <a:ext cx="822000" cy="249600"/>
          </a:xfrm>
          <a:prstGeom prst="bent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0" name="Google Shape;170;p22"/>
          <p:cNvCxnSpPr>
            <a:stCxn id="157" idx="4"/>
            <a:endCxn id="159" idx="0"/>
          </p:cNvCxnSpPr>
          <p:nvPr/>
        </p:nvCxnSpPr>
        <p:spPr>
          <a:xfrm flipH="1">
            <a:off x="3814975" y="1159500"/>
            <a:ext cx="3300" cy="27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1" name="Google Shape;171;p22"/>
          <p:cNvSpPr txBox="1"/>
          <p:nvPr/>
        </p:nvSpPr>
        <p:spPr>
          <a:xfrm>
            <a:off x="4319775" y="134150"/>
            <a:ext cx="15831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From SLIDE 1 (B)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72" name="Google Shape;172;p22"/>
          <p:cNvSpPr txBox="1"/>
          <p:nvPr/>
        </p:nvSpPr>
        <p:spPr>
          <a:xfrm>
            <a:off x="4131975" y="4682025"/>
            <a:ext cx="1569600" cy="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To SLIDE 1 (A)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73" name="Google Shape;173;p22"/>
          <p:cNvSpPr txBox="1"/>
          <p:nvPr/>
        </p:nvSpPr>
        <p:spPr>
          <a:xfrm>
            <a:off x="5486950" y="1797675"/>
            <a:ext cx="99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YES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3380700" y="2696525"/>
            <a:ext cx="6171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</a:rPr>
              <a:t>NO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/>
          <p:nvPr>
            <p:ph type="title"/>
          </p:nvPr>
        </p:nvSpPr>
        <p:spPr>
          <a:xfrm>
            <a:off x="206425" y="159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911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b="1" sz="262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23" title="WhatsApp Image 2026-04-12 at 10.52.43 P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425" y="2268725"/>
            <a:ext cx="3333752" cy="250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3" title="WhatsApp Image 2026-04-12 at 8.28.58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02025" y="2268725"/>
            <a:ext cx="4935104" cy="25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3"/>
          <p:cNvSpPr txBox="1"/>
          <p:nvPr/>
        </p:nvSpPr>
        <p:spPr>
          <a:xfrm>
            <a:off x="322175" y="798425"/>
            <a:ext cx="7755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4343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Smart Luggage Safety System was successfully developed and tested. The system effectively detects theft attempts, monitors luggage status in real-time, and sends instant alerts to the user. </a:t>
            </a:r>
            <a:endParaRPr sz="1600">
              <a:solidFill>
                <a:srgbClr val="4343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206425" y="1742075"/>
            <a:ext cx="28854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HARDWARE IMPLEMENTATION</a:t>
            </a:r>
            <a:endParaRPr b="1" sz="11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4002025" y="1742075"/>
            <a:ext cx="41520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ARDUINO CODE IMPLEMENTATION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4" title="WhatsApp Image 2026-04-12 at 10.07.32 AM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32632" y="400650"/>
            <a:ext cx="2264343" cy="37735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4" title="WhatsApp Image 2026-04-12 at 8.28.57 PM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5975" y="807550"/>
            <a:ext cx="6163200" cy="318886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4"/>
          <p:cNvSpPr txBox="1"/>
          <p:nvPr/>
        </p:nvSpPr>
        <p:spPr>
          <a:xfrm>
            <a:off x="275975" y="182100"/>
            <a:ext cx="5369100" cy="5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 TIME SYSTEM OUTPUT: </a:t>
            </a:r>
            <a:endParaRPr b="1" sz="2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24"/>
          <p:cNvSpPr txBox="1"/>
          <p:nvPr/>
        </p:nvSpPr>
        <p:spPr>
          <a:xfrm>
            <a:off x="6732676" y="4174200"/>
            <a:ext cx="22644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Instant alerts were sent through Telegram with reason.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Alerts included real-time Google Maps location link.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24"/>
          <p:cNvSpPr txBox="1"/>
          <p:nvPr/>
        </p:nvSpPr>
        <p:spPr>
          <a:xfrm>
            <a:off x="133100" y="4174200"/>
            <a:ext cx="6163200" cy="81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 application displayed live alerts and system condition. 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 was displayed on the web dashboard using map interface.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Movement path of the luggage was tracked successfully.</a:t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72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WORKS</a:t>
            </a:r>
            <a:endParaRPr b="1" sz="272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a GSM module for offline SMS alerts without internet dependency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Make the system battery removal compatible for easy replacement, long-term use, and airport compliance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Char char="●"/>
            </a:pPr>
            <a:r>
              <a:rPr lang="en-GB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indoor positioning using WiFi and BLE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"/>
          <p:cNvSpPr txBox="1"/>
          <p:nvPr>
            <p:ph type="title"/>
          </p:nvPr>
        </p:nvSpPr>
        <p:spPr>
          <a:xfrm>
            <a:off x="311700" y="4700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72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</a:t>
            </a:r>
            <a:endParaRPr b="1" sz="272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>
                <a:solidFill>
                  <a:srgbClr val="0F1115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real-time IoT smart luggage security system has been developed, using Reed Switch, LDR, and MPU6050 sensors with Wearable/Rack modes and a 7-second verification logic to minimize false alerts. It delivers live notifications via web dashboard and Telegram, triggers a buzzer for instant warning, and integrates GPS for location tracking—providing a smart, reliable, and effective security solution for modern travelers.</a:t>
            </a:r>
            <a:endParaRPr sz="1600">
              <a:solidFill>
                <a:srgbClr val="0F1115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Valluripally S., Sukheja D., Ohri K., Singh S.K. (2019):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"IoT Based Smart Luggage Monitor Alarm System," </a:t>
            </a:r>
            <a:r>
              <a:rPr i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Springer ICIoTCT 2019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GB" sz="1400" u="sng"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https://link.springer.com/chapter/10.1007/978-3-030-39875-0_31</a:t>
            </a:r>
            <a:endParaRPr sz="14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Basha Sk K., Pravallika B., Swathi D., et al. (2024):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"Intelligent Travel Companion: The IoT-Enabled Smart Bag," </a:t>
            </a:r>
            <a:r>
              <a:rPr i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IJMTST, 10(02), 70-76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GB" sz="1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400" u="sng">
                <a:latin typeface="Times New Roman"/>
                <a:ea typeface="Times New Roman"/>
                <a:cs typeface="Times New Roman"/>
                <a:sym typeface="Times New Roman"/>
                <a:hlinkClick r:id="rId5"/>
              </a:rPr>
              <a:t>https://papers.ssrn.com/sol3/papers.cfm?abstract_id=4741661</a:t>
            </a:r>
            <a:endParaRPr sz="14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Santhana Krishnan P.L., Valli R., Priya R., Pravinkumar V. (2020):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"Smart Luggage Carrier System with Theft Prevention and Real-Time Tracking," </a:t>
            </a:r>
            <a:r>
              <a:rPr i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IEEE ICSCAN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GB" sz="1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400" u="sng">
                <a:latin typeface="Times New Roman"/>
                <a:ea typeface="Times New Roman"/>
                <a:cs typeface="Times New Roman"/>
                <a:sym typeface="Times New Roman"/>
                <a:hlinkClick r:id="rId7"/>
              </a:rPr>
              <a:t>https://ieeexplore.ieee.org/document/9262445</a:t>
            </a:r>
            <a:endParaRPr sz="14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b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IJARCCE (2023):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"Smart Luggage Tracking using IoT and GPS Technology," </a:t>
            </a:r>
            <a:r>
              <a:rPr i="1"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Vol. 12, Issue 4</a:t>
            </a:r>
            <a:r>
              <a:rPr lang="en-GB" sz="1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r>
              <a:rPr lang="en-GB" sz="1400">
                <a:solidFill>
                  <a:schemeClr val="dk1"/>
                </a:solidFill>
                <a:uFill>
                  <a:noFill/>
                </a:uFill>
                <a:latin typeface="Times New Roman"/>
                <a:ea typeface="Times New Roman"/>
                <a:cs typeface="Times New Roman"/>
                <a:sym typeface="Times New Roman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400" u="sng">
                <a:latin typeface="Times New Roman"/>
                <a:ea typeface="Times New Roman"/>
                <a:cs typeface="Times New Roman"/>
                <a:sym typeface="Times New Roman"/>
                <a:hlinkClick r:id="rId9"/>
              </a:rPr>
              <a:t>https://ijarcce.com/papers/smart-luggage-tracking-using-iot-and-gps-technology/</a:t>
            </a:r>
            <a:endParaRPr sz="1400" u="sng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b="1"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/>
        </p:nvSpPr>
        <p:spPr>
          <a:xfrm>
            <a:off x="1412325" y="1740775"/>
            <a:ext cx="5895600" cy="10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200">
                <a:solidFill>
                  <a:schemeClr val="accent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b="1" sz="5200">
              <a:solidFill>
                <a:schemeClr val="accent5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